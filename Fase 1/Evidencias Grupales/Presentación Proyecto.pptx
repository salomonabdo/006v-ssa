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A4/2cgcDfI94cpqZhVghiPafV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11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914400"/>
            <a:ext cx="4206240" cy="4206240"/>
          </a:xfrm>
          <a:prstGeom prst="ellipse">
            <a:avLst/>
          </a:prstGeom>
          <a:solidFill>
            <a:srgbClr val="A8752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424160" y="2377440"/>
            <a:ext cx="4206240" cy="4206240"/>
          </a:xfrm>
          <a:prstGeom prst="ellipse">
            <a:avLst/>
          </a:prstGeom>
          <a:solidFill>
            <a:srgbClr val="2F5D62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52F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rgbClr val="A8752F"/>
                </a:solidFill>
                <a:latin typeface="Calibri"/>
                <a:ea typeface="Calibri"/>
                <a:cs typeface="Calibri"/>
                <a:sym typeface="Calibri"/>
              </a:rPr>
              <a:t>CAPSTONE 46104   ·   INGENIERÍA EN INFORMÁTICA   ·   DUOC UC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640085" y="1691650"/>
            <a:ext cx="96012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mbria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ServiciosYa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640080" y="3066675"/>
            <a:ext cx="8686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9D8"/>
              </a:buClr>
              <a:buSzPts val="2200"/>
              <a:buFont typeface="Calibri"/>
              <a:buNone/>
            </a:pPr>
            <a:r>
              <a:rPr b="0" i="1" lang="en-US" sz="3000" u="none" cap="none" strike="noStrike">
                <a:solidFill>
                  <a:srgbClr val="F3E9D8"/>
                </a:solidFill>
                <a:latin typeface="Calibri"/>
                <a:ea typeface="Calibri"/>
                <a:cs typeface="Calibri"/>
                <a:sym typeface="Calibri"/>
              </a:rPr>
              <a:t>Red de confianza para trabajo independiente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640075" y="4069072"/>
            <a:ext cx="69495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9D3D1"/>
              </a:buClr>
              <a:buSzPts val="1400"/>
              <a:buFont typeface="Calibri"/>
              <a:buNone/>
            </a:pPr>
            <a:r>
              <a:rPr b="0" i="0" lang="en-US" sz="2200" u="none" cap="none" strike="noStrike">
                <a:solidFill>
                  <a:srgbClr val="C9D3D1"/>
                </a:solidFill>
                <a:latin typeface="Calibri"/>
                <a:ea typeface="Calibri"/>
                <a:cs typeface="Calibri"/>
                <a:sym typeface="Calibri"/>
              </a:rPr>
              <a:t>Un marketplace de dos lados que conecta clientes con profesionales independientes verificados — con un aliado que ninguna otra plataforma chilena tiene: la Municipalidad.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640080" y="572192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Maximiliano Navarrete   ·   Salomón Abdo   ·   Sebastián Núñez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640080" y="6041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A6"/>
              </a:buClr>
              <a:buSzPts val="1100"/>
              <a:buFont typeface="Calibri"/>
              <a:buNone/>
            </a:pPr>
            <a:r>
              <a:rPr b="0" i="0" lang="en-US" sz="1900" u="none" cap="none" strike="noStrike">
                <a:solidFill>
                  <a:srgbClr val="9CA8A6"/>
                </a:solidFill>
                <a:latin typeface="Calibri"/>
                <a:ea typeface="Calibri"/>
                <a:cs typeface="Calibri"/>
                <a:sym typeface="Calibri"/>
              </a:rPr>
              <a:t>Definición Proyecto APT — Fase 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52F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A8752F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3200"/>
              <a:buFont typeface="Cambria"/>
              <a:buNone/>
            </a:pPr>
            <a:r>
              <a:rPr b="1" i="0" lang="en-US" sz="3800" u="none" cap="none" strike="noStrike">
                <a:solidFill>
                  <a:srgbClr val="1E2124"/>
                </a:solidFill>
                <a:latin typeface="Cambria"/>
                <a:ea typeface="Cambria"/>
                <a:cs typeface="Cambria"/>
                <a:sym typeface="Cambria"/>
              </a:rPr>
              <a:t>El problema que resolvemos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1520" y="1920240"/>
            <a:ext cx="777240" cy="777240"/>
          </a:xfrm>
          <a:prstGeom prst="ellipse">
            <a:avLst/>
          </a:prstGeom>
          <a:solidFill>
            <a:srgbClr val="E3EE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userclock_teal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06" y="2091233"/>
            <a:ext cx="544068" cy="435254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 txBox="1"/>
          <p:nvPr/>
        </p:nvSpPr>
        <p:spPr>
          <a:xfrm>
            <a:off x="1828800" y="1874520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800"/>
              <a:buFont typeface="Calibri"/>
              <a:buNone/>
            </a:pPr>
            <a:r>
              <a:rPr b="1" i="0" lang="en-US" sz="26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Trabajo independiente informal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1828800" y="2258568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400"/>
              <a:buFont typeface="Calibri"/>
              <a:buNone/>
            </a:pPr>
            <a:r>
              <a:rPr b="0" i="0" lang="en-US" sz="220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Miles de gasfíteres, barberos, tatuadores y psicólogos en Chile trabajan sin un canal digital que les dé una reputación verificable.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31520" y="3337560"/>
            <a:ext cx="777240" cy="777240"/>
          </a:xfrm>
          <a:prstGeom prst="ellipse">
            <a:avLst/>
          </a:prstGeom>
          <a:solidFill>
            <a:srgbClr val="F3E9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usershield_brass.png" id="36" name="Google Shape;3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106" y="3508553"/>
            <a:ext cx="544068" cy="43525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 txBox="1"/>
          <p:nvPr/>
        </p:nvSpPr>
        <p:spPr>
          <a:xfrm>
            <a:off x="1828800" y="3291840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800"/>
              <a:buFont typeface="Calibri"/>
              <a:buNone/>
            </a:pPr>
            <a:r>
              <a:rPr b="1" i="0" lang="en-US" sz="26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Confianza real, no solo una calificación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1828800" y="3675888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400"/>
              <a:buFont typeface="Calibri"/>
              <a:buNone/>
            </a:pPr>
            <a:r>
              <a:rPr b="0" i="0" lang="en-US" sz="220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Un cliente debe dejar entrar a un desconocido a su hogar o confiarle su bienestar personal, con poco respaldo más allá de estrellas en una app.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31520" y="4754880"/>
            <a:ext cx="777240" cy="777240"/>
          </a:xfrm>
          <a:prstGeom prst="ellipse">
            <a:avLst/>
          </a:prstGeom>
          <a:solidFill>
            <a:srgbClr val="E3EE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landmark_teal.png" id="40" name="Google Shape;4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106" y="4871466"/>
            <a:ext cx="544068" cy="54406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 txBox="1"/>
          <p:nvPr/>
        </p:nvSpPr>
        <p:spPr>
          <a:xfrm>
            <a:off x="1828800" y="4709160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800"/>
              <a:buFont typeface="Calibri"/>
              <a:buNone/>
            </a:pPr>
            <a:r>
              <a:rPr b="1" i="0" lang="en-US" sz="26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El Estado, ausente del mercado digital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1828800" y="5093208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400"/>
              <a:buFont typeface="Calibri"/>
              <a:buNone/>
            </a:pPr>
            <a:r>
              <a:rPr b="0" i="0" lang="en-US" sz="220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Ninguna plataforma chilena conecta su verificación con una institución pública, aunque el municipio ya hace ese trabajo, gratis, todos los días.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ServiciosYa · Capstone 46104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11183112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2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653793" y="18287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52F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A8752F"/>
                </a:solidFill>
                <a:latin typeface="Calibri"/>
                <a:ea typeface="Calibri"/>
                <a:cs typeface="Calibri"/>
                <a:sym typeface="Calibri"/>
              </a:rPr>
              <a:t>LA SOLUCIÓN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653793" y="50291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3000"/>
              <a:buFont typeface="Cambria"/>
              <a:buNone/>
            </a:pPr>
            <a:r>
              <a:rPr b="1" i="0" lang="en-US" sz="3600" u="none" cap="none" strike="noStrike">
                <a:solidFill>
                  <a:srgbClr val="1E2124"/>
                </a:solidFill>
                <a:latin typeface="Cambria"/>
                <a:ea typeface="Cambria"/>
                <a:cs typeface="Cambria"/>
                <a:sym typeface="Cambria"/>
              </a:rPr>
              <a:t>ServiciosYa: un marketplace de dos lados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40075" y="1350900"/>
            <a:ext cx="5212200" cy="4956000"/>
          </a:xfrm>
          <a:prstGeom prst="roundRect">
            <a:avLst>
              <a:gd fmla="val 3218" name="adj"/>
            </a:avLst>
          </a:prstGeom>
          <a:solidFill>
            <a:srgbClr val="E3EE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960120" y="1527738"/>
            <a:ext cx="731400" cy="731400"/>
          </a:xfrm>
          <a:prstGeom prst="ellipse">
            <a:avLst/>
          </a:prstGeom>
          <a:solidFill>
            <a:srgbClr val="2F5D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users_white.png" id="54" name="Google Shape;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" y="1688672"/>
            <a:ext cx="512064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 txBox="1"/>
          <p:nvPr/>
        </p:nvSpPr>
        <p:spPr>
          <a:xfrm>
            <a:off x="1874520" y="1580359"/>
            <a:ext cx="320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62"/>
              </a:buClr>
              <a:buSzPts val="2200"/>
              <a:buFont typeface="Cambria"/>
              <a:buNone/>
            </a:pPr>
            <a:r>
              <a:rPr b="1" i="0" lang="en-US" sz="2800" u="none" cap="none" strike="noStrike">
                <a:solidFill>
                  <a:srgbClr val="2F5D62"/>
                </a:solidFill>
                <a:latin typeface="Cambria"/>
                <a:ea typeface="Cambria"/>
                <a:cs typeface="Cambria"/>
                <a:sym typeface="Cambria"/>
              </a:rPr>
              <a:t>Clientes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960125" y="2566300"/>
            <a:ext cx="4572000" cy="3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81000" lvl="0" marL="34290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Publican una solicitud: rubro, fotos, ubicación y urgencia.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lnSpc>
                <a:spcPct val="137931"/>
              </a:lnSpc>
              <a:spcBef>
                <a:spcPts val="1200"/>
              </a:spcBef>
              <a:spcAft>
                <a:spcPts val="0"/>
              </a:spcAft>
              <a:buClr>
                <a:srgbClr val="1E2124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Reciben postulaciones de profesionales y eligen con quién trabajar.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lnSpc>
                <a:spcPct val="137931"/>
              </a:lnSpc>
              <a:spcBef>
                <a:spcPts val="1200"/>
              </a:spcBef>
              <a:spcAft>
                <a:spcPts val="0"/>
              </a:spcAft>
              <a:buClr>
                <a:srgbClr val="1E2124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Confirman el inicio del servicio con un PIN de seguridad.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lnSpc>
                <a:spcPct val="137931"/>
              </a:lnSpc>
              <a:spcBef>
                <a:spcPts val="1200"/>
              </a:spcBef>
              <a:spcAft>
                <a:spcPts val="0"/>
              </a:spcAft>
              <a:buClr>
                <a:srgbClr val="1E2124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Pagan de forma segura y califican al finalizar.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355075" y="1351025"/>
            <a:ext cx="5212200" cy="4956000"/>
          </a:xfrm>
          <a:prstGeom prst="roundRect">
            <a:avLst>
              <a:gd fmla="val 3218" name="adj"/>
            </a:avLst>
          </a:prstGeom>
          <a:solidFill>
            <a:srgbClr val="F3E9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6675120" y="1527738"/>
            <a:ext cx="731400" cy="731400"/>
          </a:xfrm>
          <a:prstGeom prst="ellipse">
            <a:avLst/>
          </a:prstGeom>
          <a:solidFill>
            <a:srgbClr val="A87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briefcase_white.png" id="59" name="Google Shape;5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4848" y="1637466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 txBox="1"/>
          <p:nvPr/>
        </p:nvSpPr>
        <p:spPr>
          <a:xfrm>
            <a:off x="7589520" y="1580359"/>
            <a:ext cx="3474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52F"/>
              </a:buClr>
              <a:buSzPts val="2200"/>
              <a:buFont typeface="Cambria"/>
              <a:buNone/>
            </a:pPr>
            <a:r>
              <a:rPr b="1" i="0" lang="en-US" sz="2800" u="none" cap="none" strike="noStrike">
                <a:solidFill>
                  <a:srgbClr val="A8752F"/>
                </a:solidFill>
                <a:latin typeface="Cambria"/>
                <a:ea typeface="Cambria"/>
                <a:cs typeface="Cambria"/>
                <a:sym typeface="Cambria"/>
              </a:rPr>
              <a:t>Profesionales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6675125" y="2566300"/>
            <a:ext cx="4572000" cy="3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81000" lvl="0" marL="34290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Se registran en más de 30 rubros: hogar, belleza, arte, bienestar y más.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lnSpc>
                <a:spcPct val="137931"/>
              </a:lnSpc>
              <a:spcBef>
                <a:spcPts val="1200"/>
              </a:spcBef>
              <a:spcAft>
                <a:spcPts val="0"/>
              </a:spcAft>
              <a:buClr>
                <a:srgbClr val="1E2124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Usan créditos para postular a las solicitudes que les interesan.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lnSpc>
                <a:spcPct val="137931"/>
              </a:lnSpc>
              <a:spcBef>
                <a:spcPts val="1200"/>
              </a:spcBef>
              <a:spcAft>
                <a:spcPts val="0"/>
              </a:spcAft>
              <a:buClr>
                <a:srgbClr val="1E2124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Confirman el servicio en terreno con el PIN del cliente.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lnSpc>
                <a:spcPct val="137931"/>
              </a:lnSpc>
              <a:spcBef>
                <a:spcPts val="1200"/>
              </a:spcBef>
              <a:spcAft>
                <a:spcPts val="0"/>
              </a:spcAft>
              <a:buClr>
                <a:srgbClr val="1E2124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Construyen una reputación verificable, servicio a servicio.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614416" y="3291840"/>
            <a:ext cx="960120" cy="96012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52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handshake_dark.png" id="63" name="Google Shape;6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9864" y="3512210"/>
            <a:ext cx="649224" cy="51937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ServiciosYa · Capstone 46104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11183112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3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52F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A8752F"/>
                </a:solidFill>
                <a:latin typeface="Calibri"/>
                <a:ea typeface="Calibri"/>
                <a:cs typeface="Calibri"/>
                <a:sym typeface="Calibri"/>
              </a:rPr>
              <a:t>CÓMO FUNCIONA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3000"/>
              <a:buFont typeface="Cambria"/>
              <a:buNone/>
            </a:pPr>
            <a:r>
              <a:rPr b="1" i="0" lang="en-US" sz="3600" u="none" cap="none" strike="noStrike">
                <a:solidFill>
                  <a:srgbClr val="1E2124"/>
                </a:solidFill>
                <a:latin typeface="Cambria"/>
                <a:ea typeface="Cambria"/>
                <a:cs typeface="Cambria"/>
                <a:sym typeface="Cambria"/>
              </a:rPr>
              <a:t>Cuatro capas de confianza en cada servicio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40075" y="2103126"/>
            <a:ext cx="2514600" cy="4009500"/>
          </a:xfrm>
          <a:prstGeom prst="roundRect">
            <a:avLst>
              <a:gd fmla="val 4364" name="adj"/>
            </a:avLst>
          </a:prstGeom>
          <a:solidFill>
            <a:srgbClr val="F7F7F5"/>
          </a:solidFill>
          <a:ln cap="flat" cmpd="sng" w="12700">
            <a:solidFill>
              <a:srgbClr val="E7E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1677924" y="1883664"/>
            <a:ext cx="438912" cy="438912"/>
          </a:xfrm>
          <a:prstGeom prst="ellipse">
            <a:avLst/>
          </a:prstGeom>
          <a:solidFill>
            <a:srgbClr val="152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 txBox="1"/>
          <p:nvPr/>
        </p:nvSpPr>
        <p:spPr>
          <a:xfrm>
            <a:off x="1677924" y="18745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485900" y="2468880"/>
            <a:ext cx="822960" cy="822960"/>
          </a:xfrm>
          <a:prstGeom prst="ellipse">
            <a:avLst/>
          </a:prstGeom>
          <a:solidFill>
            <a:srgbClr val="E3EE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usershield_teal.png"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344" y="2649931"/>
            <a:ext cx="576072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 txBox="1"/>
          <p:nvPr/>
        </p:nvSpPr>
        <p:spPr>
          <a:xfrm>
            <a:off x="822960" y="3391044"/>
            <a:ext cx="2148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550"/>
              <a:buFont typeface="Calibri"/>
              <a:buNone/>
            </a:pPr>
            <a:r>
              <a:rPr b="1" i="0" lang="en-US" sz="23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Identidad verificada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868680" y="4438291"/>
            <a:ext cx="2057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Análisis documental automatizado (IA) al momento del registro.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3172968" y="3474720"/>
            <a:ext cx="2834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4B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7C4B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474716" y="2103126"/>
            <a:ext cx="2514600" cy="4009500"/>
          </a:xfrm>
          <a:prstGeom prst="roundRect">
            <a:avLst>
              <a:gd fmla="val 4364" name="adj"/>
            </a:avLst>
          </a:prstGeom>
          <a:solidFill>
            <a:srgbClr val="F7F7F5"/>
          </a:solidFill>
          <a:ln cap="flat" cmpd="sng" w="12700">
            <a:solidFill>
              <a:srgbClr val="E7E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512564" y="1883664"/>
            <a:ext cx="438912" cy="438912"/>
          </a:xfrm>
          <a:prstGeom prst="ellipse">
            <a:avLst/>
          </a:prstGeom>
          <a:solidFill>
            <a:srgbClr val="152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 txBox="1"/>
          <p:nvPr/>
        </p:nvSpPr>
        <p:spPr>
          <a:xfrm>
            <a:off x="4512564" y="18745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320540" y="2468880"/>
            <a:ext cx="822960" cy="822960"/>
          </a:xfrm>
          <a:prstGeom prst="ellipse">
            <a:avLst/>
          </a:prstGeom>
          <a:solidFill>
            <a:srgbClr val="E3EE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key_teal.png" id="85" name="Google Shape;8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3984" y="2592324"/>
            <a:ext cx="57607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 txBox="1"/>
          <p:nvPr/>
        </p:nvSpPr>
        <p:spPr>
          <a:xfrm>
            <a:off x="3657600" y="3391044"/>
            <a:ext cx="2148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550"/>
              <a:buFont typeface="Calibri"/>
              <a:buNone/>
            </a:pPr>
            <a:r>
              <a:rPr b="1" i="0" lang="en-US" sz="23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PIN de seguridad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3703320" y="4438291"/>
            <a:ext cx="2057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Confirma en terreno que el profesional es quien dijo ser.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6007608" y="3474720"/>
            <a:ext cx="2834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4B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7C4B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309358" y="2103126"/>
            <a:ext cx="2514600" cy="4009500"/>
          </a:xfrm>
          <a:prstGeom prst="roundRect">
            <a:avLst>
              <a:gd fmla="val 4364" name="adj"/>
            </a:avLst>
          </a:prstGeom>
          <a:solidFill>
            <a:srgbClr val="F7F7F5"/>
          </a:solidFill>
          <a:ln cap="flat" cmpd="sng" w="12700">
            <a:solidFill>
              <a:srgbClr val="E7E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7347204" y="1883664"/>
            <a:ext cx="438912" cy="438912"/>
          </a:xfrm>
          <a:prstGeom prst="ellipse">
            <a:avLst/>
          </a:prstGeom>
          <a:solidFill>
            <a:srgbClr val="152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 txBox="1"/>
          <p:nvPr/>
        </p:nvSpPr>
        <p:spPr>
          <a:xfrm>
            <a:off x="7347204" y="18745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7155180" y="2468880"/>
            <a:ext cx="822960" cy="822960"/>
          </a:xfrm>
          <a:prstGeom prst="ellipse">
            <a:avLst/>
          </a:prstGeom>
          <a:solidFill>
            <a:srgbClr val="E3EE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coins_teal.png" id="93" name="Google Shape;9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78624" y="2592324"/>
            <a:ext cx="57607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 txBox="1"/>
          <p:nvPr/>
        </p:nvSpPr>
        <p:spPr>
          <a:xfrm>
            <a:off x="6492240" y="3391044"/>
            <a:ext cx="2148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550"/>
              <a:buFont typeface="Calibri"/>
              <a:buNone/>
            </a:pPr>
            <a:r>
              <a:rPr b="1" i="0" lang="en-US" sz="23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Créditos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6537960" y="4438291"/>
            <a:ext cx="2057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El profesional invierte créditos para postular — sin spam de contactos.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8842248" y="3474720"/>
            <a:ext cx="2834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4B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7C4B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9143999" y="2103126"/>
            <a:ext cx="2514600" cy="4009500"/>
          </a:xfrm>
          <a:prstGeom prst="roundRect">
            <a:avLst>
              <a:gd fmla="val 4364" name="adj"/>
            </a:avLst>
          </a:prstGeom>
          <a:solidFill>
            <a:srgbClr val="F7F7F5"/>
          </a:solidFill>
          <a:ln cap="flat" cmpd="sng" w="12700">
            <a:solidFill>
              <a:srgbClr val="E7E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10181844" y="1883664"/>
            <a:ext cx="438912" cy="438912"/>
          </a:xfrm>
          <a:prstGeom prst="ellipse">
            <a:avLst/>
          </a:prstGeom>
          <a:solidFill>
            <a:srgbClr val="152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 txBox="1"/>
          <p:nvPr/>
        </p:nvSpPr>
        <p:spPr>
          <a:xfrm>
            <a:off x="10181844" y="18745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9989820" y="2468880"/>
            <a:ext cx="822960" cy="822960"/>
          </a:xfrm>
          <a:prstGeom prst="ellipse">
            <a:avLst/>
          </a:prstGeom>
          <a:solidFill>
            <a:srgbClr val="E3EE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star_teal.png" id="101" name="Google Shape;10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13264" y="2624328"/>
            <a:ext cx="576072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 txBox="1"/>
          <p:nvPr/>
        </p:nvSpPr>
        <p:spPr>
          <a:xfrm>
            <a:off x="9326880" y="3391044"/>
            <a:ext cx="2148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550"/>
              <a:buFont typeface="Calibri"/>
              <a:buNone/>
            </a:pPr>
            <a:r>
              <a:rPr b="1" i="0" lang="en-US" sz="23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Calificación y strikes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9372600" y="4438291"/>
            <a:ext cx="2057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Reputación mutua; suspensión automática al tercer strike.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ServiciosYa · Capstone 46104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11183112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4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11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/>
        </p:nvSpPr>
        <p:spPr>
          <a:xfrm>
            <a:off x="640080" y="22862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52F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A8752F"/>
                </a:solidFill>
                <a:latin typeface="Calibri"/>
                <a:ea typeface="Calibri"/>
                <a:cs typeface="Calibri"/>
                <a:sym typeface="Calibri"/>
              </a:rPr>
              <a:t>LA INNOVACIÓN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640080" y="54866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Verificado por tu Municipalidad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005840" y="2103120"/>
            <a:ext cx="1371600" cy="1371600"/>
          </a:xfrm>
          <a:prstGeom prst="ellipse">
            <a:avLst/>
          </a:prstGeom>
          <a:solidFill>
            <a:srgbClr val="A87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landmark_dark.png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1580" y="2308860"/>
            <a:ext cx="960120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 txBox="1"/>
          <p:nvPr/>
        </p:nvSpPr>
        <p:spPr>
          <a:xfrm>
            <a:off x="640080" y="3703320"/>
            <a:ext cx="4206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9D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3E9D8"/>
                </a:solidFill>
                <a:latin typeface="Cambria"/>
                <a:ea typeface="Cambria"/>
                <a:cs typeface="Cambria"/>
                <a:sym typeface="Cambria"/>
              </a:rPr>
              <a:t>326 / 346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640080" y="434340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C9D3D1"/>
              </a:buClr>
              <a:buSzPts val="1350"/>
              <a:buFont typeface="Calibri"/>
              <a:buNone/>
            </a:pPr>
            <a:r>
              <a:rPr b="0" i="0" lang="en-US" sz="1950" u="none" cap="none" strike="noStrike">
                <a:solidFill>
                  <a:srgbClr val="C9D3D1"/>
                </a:solidFill>
                <a:latin typeface="Calibri"/>
                <a:ea typeface="Calibri"/>
                <a:cs typeface="Calibri"/>
                <a:sym typeface="Calibri"/>
              </a:rPr>
              <a:t>comunas de Chile ya tienen una OMIL activa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4754874" y="1238329"/>
            <a:ext cx="6728100" cy="16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OMIL (Oficina Municipal de Información Laboral) ya exigen, gratis, cédula vigente y Certificado de Antecedentes del Registro Civil para inscribir a cualquier persona en su bolsa de empleo.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4754874" y="3154681"/>
            <a:ext cx="67281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ServiciosYa reutiliza ese trámite como un sello de confianza dentro de la plataforma — mediante un convenio de colaboración, sin relación laboral ni carga tributaria para el municipio.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754874" y="4848928"/>
            <a:ext cx="6728100" cy="1649700"/>
          </a:xfrm>
          <a:prstGeom prst="roundRect">
            <a:avLst>
              <a:gd fmla="val 7407" name="adj"/>
            </a:avLst>
          </a:prstGeom>
          <a:solidFill>
            <a:srgbClr val="1C2C29"/>
          </a:solidFill>
          <a:ln cap="flat" cmpd="sng" w="12700">
            <a:solidFill>
              <a:srgbClr val="2E3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 txBox="1"/>
          <p:nvPr/>
        </p:nvSpPr>
        <p:spPr>
          <a:xfrm>
            <a:off x="5056127" y="5056667"/>
            <a:ext cx="6125400" cy="12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F3E9D8"/>
              </a:buClr>
              <a:buSzPts val="1300"/>
              <a:buFont typeface="Calibri"/>
              <a:buNone/>
            </a:pPr>
            <a:r>
              <a:rPr b="1" i="0" lang="en-US" sz="1900" u="none" cap="none" strike="noStrike">
                <a:solidFill>
                  <a:srgbClr val="F3E9D8"/>
                </a:solidFill>
                <a:latin typeface="Calibri"/>
                <a:ea typeface="Calibri"/>
                <a:cs typeface="Calibri"/>
                <a:sym typeface="Calibri"/>
              </a:rPr>
              <a:t>Ningún competidor chileno lo hace hoy:  </a:t>
            </a:r>
            <a:r>
              <a:rPr b="0" i="0" lang="en-US" sz="1900" u="none" cap="none" strike="noStrike">
                <a:solidFill>
                  <a:srgbClr val="C9D3D1"/>
                </a:solidFill>
                <a:latin typeface="Calibri"/>
                <a:ea typeface="Calibri"/>
                <a:cs typeface="Calibri"/>
                <a:sym typeface="Calibri"/>
              </a:rPr>
              <a:t>LiLi, Fixora, Listoco y Jobbing verifican identidad por su cuenta, pero ninguno conecta esa verificación con una institución pública.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A6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9CA8A6"/>
                </a:solidFill>
                <a:latin typeface="Calibri"/>
                <a:ea typeface="Calibri"/>
                <a:cs typeface="Calibri"/>
                <a:sym typeface="Calibri"/>
              </a:rPr>
              <a:t>ServiciosYa · Capstone 46104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11111288" y="6400805"/>
            <a:ext cx="80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CA8A6"/>
                </a:solidFill>
                <a:latin typeface="Calibri"/>
                <a:ea typeface="Calibri"/>
                <a:cs typeface="Calibri"/>
                <a:sym typeface="Calibri"/>
              </a:rPr>
              <a:t>5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52F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A8752F"/>
                </a:solidFill>
                <a:latin typeface="Calibri"/>
                <a:ea typeface="Calibri"/>
                <a:cs typeface="Calibri"/>
                <a:sym typeface="Calibri"/>
              </a:rPr>
              <a:t>PERFIL DE EGRESO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2800"/>
              <a:buFont typeface="Cambria"/>
              <a:buNone/>
            </a:pPr>
            <a:r>
              <a:rPr b="1" i="0" lang="en-US" sz="3500" u="none" cap="none" strike="noStrike">
                <a:solidFill>
                  <a:srgbClr val="1E2124"/>
                </a:solidFill>
                <a:latin typeface="Cambria"/>
                <a:ea typeface="Cambria"/>
                <a:cs typeface="Cambria"/>
                <a:sym typeface="Cambria"/>
              </a:rPr>
              <a:t>Ingeniería en Informática, aplicada de principio a fin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40080" y="1828800"/>
            <a:ext cx="5257800" cy="1965960"/>
          </a:xfrm>
          <a:prstGeom prst="roundRect">
            <a:avLst>
              <a:gd fmla="val 5581" name="adj"/>
            </a:avLst>
          </a:prstGeom>
          <a:solidFill>
            <a:srgbClr val="F7F7F5"/>
          </a:solidFill>
          <a:ln cap="flat" cmpd="sng" w="12700">
            <a:solidFill>
              <a:srgbClr val="E7E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914400" y="2121408"/>
            <a:ext cx="777240" cy="777240"/>
          </a:xfrm>
          <a:prstGeom prst="ellipse">
            <a:avLst/>
          </a:prstGeom>
          <a:solidFill>
            <a:srgbClr val="F3E9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vial_brass.png"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988" y="2237994"/>
            <a:ext cx="510064" cy="54406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 txBox="1"/>
          <p:nvPr/>
        </p:nvSpPr>
        <p:spPr>
          <a:xfrm>
            <a:off x="914400" y="294436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752F"/>
              </a:buClr>
              <a:buSzPts val="1100"/>
              <a:buFont typeface="Calibri"/>
              <a:buNone/>
            </a:pPr>
            <a:r>
              <a:rPr b="1" i="0" lang="en-US" sz="1800" u="none" cap="none" strike="noStrike">
                <a:solidFill>
                  <a:srgbClr val="A8752F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1920240" y="1973724"/>
            <a:ext cx="370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650"/>
              <a:buFont typeface="Calibri"/>
              <a:buNone/>
            </a:pPr>
            <a:r>
              <a:rPr b="1" i="0" lang="en-US" sz="25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Pruebas de certificación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1920240" y="2578608"/>
            <a:ext cx="3703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250"/>
              <a:buFont typeface="Calibri"/>
              <a:buNone/>
            </a:pPr>
            <a:r>
              <a:rPr b="0" i="0" lang="en-US" sz="215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25 pruebas unitarias reales sobre la lógica de negocio: PIN, créditos y strikes.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217920" y="1828800"/>
            <a:ext cx="5257800" cy="1965960"/>
          </a:xfrm>
          <a:prstGeom prst="roundRect">
            <a:avLst>
              <a:gd fmla="val 5581" name="adj"/>
            </a:avLst>
          </a:prstGeom>
          <a:solidFill>
            <a:srgbClr val="F7F7F5"/>
          </a:solidFill>
          <a:ln cap="flat" cmpd="sng" w="12700">
            <a:solidFill>
              <a:srgbClr val="E7E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6492240" y="2121408"/>
            <a:ext cx="777240" cy="777240"/>
          </a:xfrm>
          <a:prstGeom prst="ellipse">
            <a:avLst/>
          </a:prstGeom>
          <a:solidFill>
            <a:srgbClr val="F3E9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tasks_brass.png" id="138" name="Google Shape;13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8826" y="2237994"/>
            <a:ext cx="544068" cy="54406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6492240" y="294436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752F"/>
              </a:buClr>
              <a:buSzPts val="1100"/>
              <a:buFont typeface="Calibri"/>
              <a:buNone/>
            </a:pPr>
            <a:r>
              <a:rPr b="1" i="0" lang="en-US" sz="1800" u="none" cap="none" strike="noStrike">
                <a:solidFill>
                  <a:srgbClr val="A8752F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7498080" y="1973724"/>
            <a:ext cx="370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650"/>
              <a:buFont typeface="Calibri"/>
              <a:buNone/>
            </a:pPr>
            <a:r>
              <a:rPr b="1" i="0" lang="en-US" sz="25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Gestión de proyectos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7498080" y="2578608"/>
            <a:ext cx="3703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250"/>
              <a:buFont typeface="Calibri"/>
              <a:buNone/>
            </a:pPr>
            <a:r>
              <a:rPr b="0" i="0" lang="en-US" sz="215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Metodología Scrum, sprints de 2 semanas y Carta Gantt con 18 semanas reales.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40080" y="4069080"/>
            <a:ext cx="5257800" cy="1965960"/>
          </a:xfrm>
          <a:prstGeom prst="roundRect">
            <a:avLst>
              <a:gd fmla="val 5581" name="adj"/>
            </a:avLst>
          </a:prstGeom>
          <a:solidFill>
            <a:srgbClr val="F7F7F5"/>
          </a:solidFill>
          <a:ln cap="flat" cmpd="sng" w="12700">
            <a:solidFill>
              <a:srgbClr val="E7E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914400" y="4361688"/>
            <a:ext cx="777240" cy="777240"/>
          </a:xfrm>
          <a:prstGeom prst="ellipse">
            <a:avLst/>
          </a:prstGeom>
          <a:solidFill>
            <a:srgbClr val="F3E9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database_brass.png" id="144" name="Google Shape;14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4990" y="4478274"/>
            <a:ext cx="476060" cy="54406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914400" y="518464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752F"/>
              </a:buClr>
              <a:buSzPts val="1100"/>
              <a:buFont typeface="Calibri"/>
              <a:buNone/>
            </a:pPr>
            <a:r>
              <a:rPr b="1" i="0" lang="en-US" sz="1800" u="none" cap="none" strike="noStrike">
                <a:solidFill>
                  <a:srgbClr val="A8752F"/>
                </a:solidFill>
                <a:latin typeface="Calibri"/>
                <a:ea typeface="Calibri"/>
                <a:cs typeface="Calibri"/>
                <a:sym typeface="Calibri"/>
              </a:rPr>
              <a:t>C3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1920240" y="4214004"/>
            <a:ext cx="370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650"/>
              <a:buFont typeface="Calibri"/>
              <a:buNone/>
            </a:pPr>
            <a:r>
              <a:rPr b="1" i="0" lang="en-US" sz="25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Modelos de datos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1920240" y="4818888"/>
            <a:ext cx="3703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250"/>
              <a:buFont typeface="Calibri"/>
              <a:buNone/>
            </a:pPr>
            <a:r>
              <a:rPr b="0" i="0" lang="en-US" sz="215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9 colecciones de Firestore diseñadas, documentadas y con reglas de seguridad reales.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217920" y="4069080"/>
            <a:ext cx="5257800" cy="1965960"/>
          </a:xfrm>
          <a:prstGeom prst="roundRect">
            <a:avLst>
              <a:gd fmla="val 5581" name="adj"/>
            </a:avLst>
          </a:prstGeom>
          <a:solidFill>
            <a:srgbClr val="F7F7F5"/>
          </a:solidFill>
          <a:ln cap="flat" cmpd="sng" w="12700">
            <a:solidFill>
              <a:srgbClr val="E7E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6492240" y="4361688"/>
            <a:ext cx="777240" cy="777240"/>
          </a:xfrm>
          <a:prstGeom prst="ellipse">
            <a:avLst/>
          </a:prstGeom>
          <a:solidFill>
            <a:srgbClr val="F3E9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laptopcode_brass.png" id="150" name="Google Shape;15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8826" y="4532681"/>
            <a:ext cx="544068" cy="43525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 txBox="1"/>
          <p:nvPr/>
        </p:nvSpPr>
        <p:spPr>
          <a:xfrm>
            <a:off x="6492240" y="518464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752F"/>
              </a:buClr>
              <a:buSzPts val="1100"/>
              <a:buFont typeface="Calibri"/>
              <a:buNone/>
            </a:pPr>
            <a:r>
              <a:rPr b="1" i="0" lang="en-US" sz="1800" u="none" cap="none" strike="noStrike">
                <a:solidFill>
                  <a:srgbClr val="A8752F"/>
                </a:solidFill>
                <a:latin typeface="Calibri"/>
                <a:ea typeface="Calibri"/>
                <a:cs typeface="Calibri"/>
                <a:sym typeface="Calibri"/>
              </a:rPr>
              <a:t>C4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7498080" y="4214004"/>
            <a:ext cx="370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650"/>
              <a:buFont typeface="Calibri"/>
              <a:buNone/>
            </a:pPr>
            <a:r>
              <a:rPr b="1" i="0" lang="en-US" sz="25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Desarrollo de software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7498080" y="4818888"/>
            <a:ext cx="3703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250"/>
              <a:buFont typeface="Calibri"/>
              <a:buNone/>
            </a:pPr>
            <a:r>
              <a:rPr b="0" i="0" lang="en-US" sz="215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Aplicación completa: React, Firebase Cloud Functions, pagos e IA de verificación.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ServiciosYa · Capstone 46104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11183112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6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/>
          <p:nvPr/>
        </p:nvSpPr>
        <p:spPr>
          <a:xfrm>
            <a:off x="640080" y="374045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52F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A8752F"/>
                </a:solidFill>
                <a:latin typeface="Calibri"/>
                <a:ea typeface="Calibri"/>
                <a:cs typeface="Calibri"/>
                <a:sym typeface="Calibri"/>
              </a:rPr>
              <a:t>FACTIBILIDAD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640080" y="694085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3000"/>
              <a:buFont typeface="Cambria"/>
              <a:buNone/>
            </a:pPr>
            <a:r>
              <a:rPr b="1" i="0" lang="en-US" sz="3600" u="none" cap="none" strike="noStrike">
                <a:solidFill>
                  <a:srgbClr val="1E2124"/>
                </a:solidFill>
                <a:latin typeface="Cambria"/>
                <a:ea typeface="Cambria"/>
                <a:cs typeface="Cambria"/>
                <a:sym typeface="Cambria"/>
              </a:rPr>
              <a:t>No es solo una idea: ya está en desarrollo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958300" y="1463049"/>
            <a:ext cx="2606100" cy="2067000"/>
          </a:xfrm>
          <a:prstGeom prst="roundRect">
            <a:avLst>
              <a:gd fmla="val 6316" name="adj"/>
            </a:avLst>
          </a:prstGeom>
          <a:solidFill>
            <a:srgbClr val="E3EE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2095460" y="1464764"/>
            <a:ext cx="23316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62"/>
              </a:buClr>
              <a:buSzPts val="4200"/>
              <a:buFont typeface="Cambria"/>
              <a:buNone/>
            </a:pPr>
            <a:r>
              <a:rPr b="1" i="0" lang="en-US" sz="4800" u="none" cap="none" strike="noStrike">
                <a:solidFill>
                  <a:srgbClr val="2F5D62"/>
                </a:solidFill>
                <a:latin typeface="Cambria"/>
                <a:ea typeface="Cambria"/>
                <a:cs typeface="Cambria"/>
                <a:sym typeface="Cambria"/>
              </a:rPr>
              <a:t>25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2141180" y="2411175"/>
            <a:ext cx="2240400" cy="8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pruebas unitarias reales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792944" y="1463049"/>
            <a:ext cx="2606100" cy="2067000"/>
          </a:xfrm>
          <a:prstGeom prst="roundRect">
            <a:avLst>
              <a:gd fmla="val 6316" name="adj"/>
            </a:avLst>
          </a:prstGeom>
          <a:solidFill>
            <a:srgbClr val="F3E9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4930104" y="1464764"/>
            <a:ext cx="23316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52F"/>
              </a:buClr>
              <a:buSzPts val="4200"/>
              <a:buFont typeface="Cambria"/>
              <a:buNone/>
            </a:pPr>
            <a:r>
              <a:rPr b="1" i="0" lang="en-US" sz="4800" u="none" cap="none" strike="noStrike">
                <a:solidFill>
                  <a:srgbClr val="A8752F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4975824" y="2411175"/>
            <a:ext cx="2240400" cy="8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colecciones de datos en Firestore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7627588" y="1463049"/>
            <a:ext cx="2606100" cy="2067000"/>
          </a:xfrm>
          <a:prstGeom prst="roundRect">
            <a:avLst>
              <a:gd fmla="val 6316" name="adj"/>
            </a:avLst>
          </a:prstGeom>
          <a:solidFill>
            <a:srgbClr val="E3EE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 txBox="1"/>
          <p:nvPr/>
        </p:nvSpPr>
        <p:spPr>
          <a:xfrm>
            <a:off x="7764748" y="1464764"/>
            <a:ext cx="23316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62"/>
              </a:buClr>
              <a:buSzPts val="4200"/>
              <a:buFont typeface="Cambria"/>
              <a:buNone/>
            </a:pPr>
            <a:r>
              <a:rPr b="1" i="0" lang="en-US" sz="4800" u="none" cap="none" strike="noStrike">
                <a:solidFill>
                  <a:srgbClr val="2F5D62"/>
                </a:solidFill>
                <a:latin typeface="Cambria"/>
                <a:ea typeface="Cambria"/>
                <a:cs typeface="Cambria"/>
                <a:sym typeface="Cambria"/>
              </a:rPr>
              <a:t>30+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7810468" y="2411175"/>
            <a:ext cx="2240400" cy="8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rubros de servicio disponibles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640075" y="3729108"/>
            <a:ext cx="10881300" cy="12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500"/>
              <a:buFont typeface="Calibri"/>
              <a:buNone/>
            </a:pPr>
            <a:r>
              <a:rPr b="0" i="0" lang="en-US" sz="2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El núcleo funcional ya existe y corre: autenticación, solicitudes, PIN de seguridad, créditos, pagos y panel de analítica. El semestre se concentra en la capa de innovación municipal y en fortalecer documentación, pruebas y despliegue — no en partir desde cero.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40080" y="5349240"/>
            <a:ext cx="3429000" cy="685800"/>
          </a:xfrm>
          <a:prstGeom prst="roundRect">
            <a:avLst>
              <a:gd fmla="val 49333" name="adj"/>
            </a:avLst>
          </a:prstGeom>
          <a:solidFill>
            <a:srgbClr val="152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 txBox="1"/>
          <p:nvPr/>
        </p:nvSpPr>
        <p:spPr>
          <a:xfrm>
            <a:off x="640080" y="534924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1 · Definición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297680" y="5349240"/>
            <a:ext cx="3429000" cy="685800"/>
          </a:xfrm>
          <a:prstGeom prst="roundRect">
            <a:avLst>
              <a:gd fmla="val 49333" name="adj"/>
            </a:avLst>
          </a:prstGeom>
          <a:solidFill>
            <a:srgbClr val="F0F0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 txBox="1"/>
          <p:nvPr/>
        </p:nvSpPr>
        <p:spPr>
          <a:xfrm>
            <a:off x="4297680" y="534924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1" i="0" lang="en-US" sz="21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Fase 2 · Desarrollo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7955280" y="5349240"/>
            <a:ext cx="3429000" cy="685800"/>
          </a:xfrm>
          <a:prstGeom prst="roundRect">
            <a:avLst>
              <a:gd fmla="val 49333" name="adj"/>
            </a:avLst>
          </a:prstGeom>
          <a:solidFill>
            <a:srgbClr val="F0F0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 txBox="1"/>
          <p:nvPr/>
        </p:nvSpPr>
        <p:spPr>
          <a:xfrm>
            <a:off x="7955280" y="534924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1" i="0" lang="en-US" sz="21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Fase 3 · Presentación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ServiciosYa · Capstone 46104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11183112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63"/>
                </a:solidFill>
                <a:latin typeface="Calibri"/>
                <a:ea typeface="Calibri"/>
                <a:cs typeface="Calibri"/>
                <a:sym typeface="Calibri"/>
              </a:rPr>
              <a:t>7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11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 txBox="1"/>
          <p:nvPr/>
        </p:nvSpPr>
        <p:spPr>
          <a:xfrm>
            <a:off x="640080" y="355634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52F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A8752F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640080" y="86868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Confianza real, para cualquier trabajo independiente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31520" y="2424081"/>
            <a:ext cx="502800" cy="502800"/>
          </a:xfrm>
          <a:prstGeom prst="ellipse">
            <a:avLst/>
          </a:prstGeom>
          <a:solidFill>
            <a:srgbClr val="F3E9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checkcircle_dark.png" id="189" name="Google Shape;1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958" y="2499519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 txBox="1"/>
          <p:nvPr/>
        </p:nvSpPr>
        <p:spPr>
          <a:xfrm>
            <a:off x="1463040" y="2378361"/>
            <a:ext cx="9966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7E7E3"/>
              </a:buClr>
              <a:buSzPts val="1500"/>
              <a:buFont typeface="Calibri"/>
              <a:buNone/>
            </a:pPr>
            <a:r>
              <a:rPr b="0" i="0" lang="en-US" sz="2100" u="none" cap="none" strike="noStrike">
                <a:solidFill>
                  <a:srgbClr val="E7E7E3"/>
                </a:solidFill>
                <a:latin typeface="Calibri"/>
                <a:ea typeface="Calibri"/>
                <a:cs typeface="Calibri"/>
                <a:sym typeface="Calibri"/>
              </a:rPr>
              <a:t>Resuelve un problema real de informalidad laboral y confianza en Chile — no solo del hogar, sino de cualquier trabajo independiente.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731520" y="3475641"/>
            <a:ext cx="502800" cy="502800"/>
          </a:xfrm>
          <a:prstGeom prst="ellipse">
            <a:avLst/>
          </a:prstGeom>
          <a:solidFill>
            <a:srgbClr val="F3E9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checkcircle_dark.png" id="192" name="Google Shape;1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958" y="3551079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 txBox="1"/>
          <p:nvPr/>
        </p:nvSpPr>
        <p:spPr>
          <a:xfrm>
            <a:off x="1463040" y="3429921"/>
            <a:ext cx="9966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7E7E3"/>
              </a:buClr>
              <a:buSzPts val="1500"/>
              <a:buFont typeface="Calibri"/>
              <a:buNone/>
            </a:pPr>
            <a:r>
              <a:rPr b="0" i="0" lang="en-US" sz="2100" u="none" cap="none" strike="noStrike">
                <a:solidFill>
                  <a:srgbClr val="E7E7E3"/>
                </a:solidFill>
                <a:latin typeface="Calibri"/>
                <a:ea typeface="Calibri"/>
                <a:cs typeface="Calibri"/>
                <a:sym typeface="Calibri"/>
              </a:rPr>
              <a:t>Es, hasta donde investigamos, la primera plataforma chilena en conectar su verificación con una institución pública.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731520" y="4527201"/>
            <a:ext cx="502800" cy="502800"/>
          </a:xfrm>
          <a:prstGeom prst="ellipse">
            <a:avLst/>
          </a:prstGeom>
          <a:solidFill>
            <a:srgbClr val="F3E9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build/icons/checkcircle_dark.png"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958" y="4602639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 txBox="1"/>
          <p:nvPr/>
        </p:nvSpPr>
        <p:spPr>
          <a:xfrm>
            <a:off x="1463040" y="4481481"/>
            <a:ext cx="9966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7E7E3"/>
              </a:buClr>
              <a:buSzPts val="1500"/>
              <a:buFont typeface="Calibri"/>
              <a:buNone/>
            </a:pPr>
            <a:r>
              <a:rPr b="0" i="0" lang="en-US" sz="2100" u="none" cap="none" strike="noStrike">
                <a:solidFill>
                  <a:srgbClr val="E7E7E3"/>
                </a:solidFill>
                <a:latin typeface="Calibri"/>
                <a:ea typeface="Calibri"/>
                <a:cs typeface="Calibri"/>
                <a:sym typeface="Calibri"/>
              </a:rPr>
              <a:t>Aplica de punta a punta las competencias del Perfil de Egreso de Ingeniería en Informática: pruebas, gestión de proyectos, modelos de datos y desarrollo de software.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640080" y="6126475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A6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9CA8A6"/>
                </a:solidFill>
                <a:latin typeface="Calibri"/>
                <a:ea typeface="Calibri"/>
                <a:cs typeface="Calibri"/>
                <a:sym typeface="Calibri"/>
              </a:rPr>
              <a:t>ServiciosYa · Capstone 46104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11183112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CA8A6"/>
                </a:solidFill>
                <a:latin typeface="Calibri"/>
                <a:ea typeface="Calibri"/>
                <a:cs typeface="Calibri"/>
                <a:sym typeface="Calibri"/>
              </a:rPr>
              <a:t>8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2026-08-30T11:09:07Z</dcterms:created>
  <dc:creator>PptxGenJS</dc:creator>
</cp:coreProperties>
</file>